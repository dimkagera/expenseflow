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96D9"/>
    <a:srgbClr val="CDCDCD"/>
    <a:srgbClr val="B0B0C0"/>
    <a:srgbClr val="9EDF91"/>
    <a:srgbClr val="7F82F1"/>
    <a:srgbClr val="6778A9"/>
    <a:srgbClr val="787998"/>
    <a:srgbClr val="6DBF98"/>
    <a:srgbClr val="828AAA"/>
    <a:srgbClr val="767B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2040" y="3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33746-01B4-4240-A493-2BD095A8F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B6265D-5E5A-43CF-AE1C-2D8244D21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8C659A-E087-468C-85FE-101337AA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82E969-8DA9-4322-9EE8-CEBFF68E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091DEC-9C91-44CE-9A1F-64F9E785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52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169D4-194D-4D30-B4D2-82835FFEB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602F5F-DEAD-4FF6-A1FC-971ECC0E3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47D688-CBE6-4155-9B5E-0C3D6B518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B79FA1-E99D-4974-9EBC-6EBAD331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C64113-9C4E-4A62-8076-CED1084FE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31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D91108-96CA-4D50-98A7-EA536DD75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B0D929-6097-4530-B649-A8E6B0593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804F10-3B51-420E-926F-8D64D454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5E9D6D-BD91-480D-ACD4-89282951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BB9C17-26A6-4CDB-9102-3BC7741FD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392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EDAAE-8B79-4927-9EAD-99AD20F7F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EB274C-E6E2-4B72-AEDB-B9FE43EEA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5BEB4D-DDE0-400A-8C8E-F707446E8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396B4C-D78E-4489-8DF7-0E9D083C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AD31C0-4FDA-4608-8502-C755707B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14F074-81B6-4BEA-AC1F-FD4362E9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9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0F4BE2-52CA-491E-8D4A-378B08095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C15465-15BF-4B6D-948E-12BE3154B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F71C29-4005-4EB9-9860-020AD2930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A1B820-9E18-425E-B3AD-02B27F265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0CAB9F-8BE4-402B-8716-EF18C8806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2BA0A8B-7766-4485-9E44-2701A5FB6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41BC198-8E86-455C-8B47-F625E7E83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15B1894-EDB0-4004-972D-CC911C92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403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79896-8D1A-42AA-8C73-1AEEDBA1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4545FF4-1AB6-4BFC-B0D8-7A3702580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274C40-79EF-448F-BECD-EC34DF98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563179-C3BB-42F8-9602-72D071E16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212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4A152D-F922-4A47-92F8-76561D6D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69B131E-0F44-4B6A-9969-907766D23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B507CB-AF0F-4B9C-BB75-0924E87A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70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9D7CCF-4C1C-4E20-A84C-EBF67C2C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64C537-7DDC-449D-95CA-EDE6423C5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07334E-126F-4498-B6FE-1EECD0137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EF9173-5CE0-4467-9FBF-A288785D6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295484-90DF-4A2E-9C2E-9643C1301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BBEA53-DC05-4705-9834-AF9BE538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907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0EB727-E621-4F33-A454-0FD18005E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C5E0A0D-A9BB-4D98-A5A2-F996579A8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131124-8589-4CB3-9DD5-3D5559382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8A170D-E1DF-46CB-B93F-D46E958D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0D37EF-2773-4345-AEA5-8E70616D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C81CA7-51B1-4B6F-AC19-907CFE7E9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02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97026-FD4C-435B-8DBD-94CB22C5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36FB7E-F18F-4794-8976-7A108051B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B0C91F-4833-454A-B509-A2DEAF0F7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AABD72-9B27-490F-9EF6-6BAEDC09C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71AF95-24F6-46AE-9677-D04479AF8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879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7DA288E-0DC6-4112-81C6-94EF9B295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B931A4-0745-43B7-886A-EEFB57D12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D64609-52FE-406C-85F8-D37D0C777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9512-7DA3-4589-929C-A7D4ADF513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C54395-8831-4367-A8A7-92B07FFF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3BD1A2-2AAA-4EC3-B363-0179FE091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47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848BB5-477D-4AF3-9AA6-A4999219E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A64E05-A0FE-41B1-85C7-1A48E6C9B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2EAF9A-866B-41E2-A31E-C89B58342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89512-7DA3-4589-929C-A7D4ADF513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E5DCA4-FCA2-459A-98BA-F3160EBB4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805E27-9370-4B43-BDB7-B6CF81CB9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F37D8-C9A9-4E7E-8FBA-092258E83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3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othost.ru/pricing.php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030A0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C0AAB4-FEEF-4DCC-A82F-B43C0AA25389}"/>
              </a:ext>
            </a:extLst>
          </p:cNvPr>
          <p:cNvSpPr/>
          <p:nvPr/>
        </p:nvSpPr>
        <p:spPr>
          <a:xfrm>
            <a:off x="0" y="2505694"/>
            <a:ext cx="5783284" cy="1971304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  <a:effectLst>
            <a:outerShdw blurRad="596900" dist="38100" dir="3000000" sx="105000" sy="105000" algn="tl" rotWithShape="0">
              <a:prstClr val="black">
                <a:alpha val="6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0D0F51-FB7B-432E-9226-187E865548F1}"/>
              </a:ext>
            </a:extLst>
          </p:cNvPr>
          <p:cNvSpPr txBox="1"/>
          <p:nvPr/>
        </p:nvSpPr>
        <p:spPr>
          <a:xfrm>
            <a:off x="843148" y="3075057"/>
            <a:ext cx="39079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>
                <a:solidFill>
                  <a:srgbClr val="0F1115"/>
                </a:solidFill>
                <a:latin typeface="Arial Black" panose="020B0A04020102020204" pitchFamily="34" charset="0"/>
              </a:rPr>
              <a:t>ExpenseFlow</a:t>
            </a:r>
            <a:endParaRPr lang="ru-RU" sz="4000" b="1" dirty="0">
              <a:solidFill>
                <a:srgbClr val="0F1115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D702B0-8DBC-46D2-8CAB-E9816E8C3061}"/>
              </a:ext>
            </a:extLst>
          </p:cNvPr>
          <p:cNvSpPr txBox="1"/>
          <p:nvPr/>
        </p:nvSpPr>
        <p:spPr>
          <a:xfrm>
            <a:off x="985651" y="4868883"/>
            <a:ext cx="32954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Работу выполнил: Герасименко Дмитрий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121008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0272BB-0E09-4A36-8176-9785FC750BE5}"/>
              </a:ext>
            </a:extLst>
          </p:cNvPr>
          <p:cNvSpPr txBox="1"/>
          <p:nvPr/>
        </p:nvSpPr>
        <p:spPr>
          <a:xfrm>
            <a:off x="314695" y="130629"/>
            <a:ext cx="3081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rgbClr val="0F1115"/>
                </a:solidFill>
                <a:latin typeface="Arial Black" panose="020B0A04020102020204" pitchFamily="34" charset="0"/>
              </a:rPr>
              <a:t>О проекте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7BE6A-D792-49EC-8A85-17BF76774A4F}"/>
              </a:ext>
            </a:extLst>
          </p:cNvPr>
          <p:cNvSpPr txBox="1"/>
          <p:nvPr/>
        </p:nvSpPr>
        <p:spPr>
          <a:xfrm>
            <a:off x="314695" y="838515"/>
            <a:ext cx="2764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Анализ проблемы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9DF0B41-AE0E-4A62-8B59-1A5C3A809BFA}"/>
              </a:ext>
            </a:extLst>
          </p:cNvPr>
          <p:cNvSpPr/>
          <p:nvPr/>
        </p:nvSpPr>
        <p:spPr>
          <a:xfrm>
            <a:off x="332168" y="1300180"/>
            <a:ext cx="3018177" cy="1113119"/>
          </a:xfrm>
          <a:prstGeom prst="rect">
            <a:avLst/>
          </a:prstGeom>
          <a:gradFill flip="none" rotWithShape="1">
            <a:gsLst>
              <a:gs pos="100000">
                <a:srgbClr val="6778A9"/>
              </a:gs>
              <a:gs pos="0">
                <a:srgbClr val="B0B0C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367279-CDDE-4E5B-8825-F4AD71B68B46}"/>
              </a:ext>
            </a:extLst>
          </p:cNvPr>
          <p:cNvSpPr txBox="1"/>
          <p:nvPr/>
        </p:nvSpPr>
        <p:spPr>
          <a:xfrm>
            <a:off x="450923" y="1328570"/>
            <a:ext cx="18694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Невидимые</a:t>
            </a:r>
          </a:p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деньги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F536FA-9C13-4974-8DBB-4079F29FF6EB}"/>
              </a:ext>
            </a:extLst>
          </p:cNvPr>
          <p:cNvSpPr/>
          <p:nvPr/>
        </p:nvSpPr>
        <p:spPr>
          <a:xfrm>
            <a:off x="332035" y="2390400"/>
            <a:ext cx="3018177" cy="37194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D5B20-19EC-4598-A22D-2D026BA77861}"/>
              </a:ext>
            </a:extLst>
          </p:cNvPr>
          <p:cNvSpPr txBox="1"/>
          <p:nvPr/>
        </p:nvSpPr>
        <p:spPr>
          <a:xfrm>
            <a:off x="450923" y="2552918"/>
            <a:ext cx="27791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Мы платим картой/телефоном, не чувствуя физической потери денег. Мозг не фиксирует трату так, как при отдаче купюр.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4FA4988-9360-4EC2-9EE5-9016569452B2}"/>
              </a:ext>
            </a:extLst>
          </p:cNvPr>
          <p:cNvSpPr/>
          <p:nvPr/>
        </p:nvSpPr>
        <p:spPr>
          <a:xfrm>
            <a:off x="3714997" y="1300179"/>
            <a:ext cx="3018177" cy="1113119"/>
          </a:xfrm>
          <a:prstGeom prst="rect">
            <a:avLst/>
          </a:prstGeom>
          <a:gradFill flip="none" rotWithShape="1">
            <a:gsLst>
              <a:gs pos="0">
                <a:srgbClr val="9EDF91"/>
              </a:gs>
              <a:gs pos="100000">
                <a:srgbClr val="6DBF9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BC5AEEC-4B83-40CB-B90C-4352BAF549DA}"/>
              </a:ext>
            </a:extLst>
          </p:cNvPr>
          <p:cNvSpPr/>
          <p:nvPr/>
        </p:nvSpPr>
        <p:spPr>
          <a:xfrm>
            <a:off x="3714995" y="2413297"/>
            <a:ext cx="3018179" cy="369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DDC602-E789-4E41-A5C4-5391F722A776}"/>
              </a:ext>
            </a:extLst>
          </p:cNvPr>
          <p:cNvSpPr txBox="1"/>
          <p:nvPr/>
        </p:nvSpPr>
        <p:spPr>
          <a:xfrm>
            <a:off x="3833883" y="2534705"/>
            <a:ext cx="30181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Стресс, скука, усталость → импульсивная покупка «для настроения». Потом — чувство вины и непонимание, почему денег нет.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7E1DDA-BE24-4E23-8F16-D5A763BE4A61}"/>
              </a:ext>
            </a:extLst>
          </p:cNvPr>
          <p:cNvSpPr txBox="1"/>
          <p:nvPr/>
        </p:nvSpPr>
        <p:spPr>
          <a:xfrm>
            <a:off x="3833883" y="1328570"/>
            <a:ext cx="25488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Эмоциональные</a:t>
            </a:r>
          </a:p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покупки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75A7E95-B5F3-4ACC-8D72-C0D021333DE6}"/>
              </a:ext>
            </a:extLst>
          </p:cNvPr>
          <p:cNvSpPr/>
          <p:nvPr/>
        </p:nvSpPr>
        <p:spPr>
          <a:xfrm>
            <a:off x="7097826" y="1300179"/>
            <a:ext cx="3018177" cy="1090221"/>
          </a:xfrm>
          <a:prstGeom prst="rect">
            <a:avLst/>
          </a:prstGeom>
          <a:gradFill flip="none" rotWithShape="1">
            <a:gsLst>
              <a:gs pos="0">
                <a:srgbClr val="7F82F1"/>
              </a:gs>
              <a:gs pos="100000">
                <a:srgbClr val="6DBF9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07F240B-B402-43E8-A666-62827D71B0B9}"/>
              </a:ext>
            </a:extLst>
          </p:cNvPr>
          <p:cNvSpPr/>
          <p:nvPr/>
        </p:nvSpPr>
        <p:spPr>
          <a:xfrm>
            <a:off x="7097824" y="2390400"/>
            <a:ext cx="3018179" cy="32681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4A898C-1059-46DD-9BC5-B54B84EFF3EF}"/>
              </a:ext>
            </a:extLst>
          </p:cNvPr>
          <p:cNvSpPr txBox="1"/>
          <p:nvPr/>
        </p:nvSpPr>
        <p:spPr>
          <a:xfrm>
            <a:off x="7186001" y="1256573"/>
            <a:ext cx="2841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Отсутствие финансовой грамотности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90196A-C2B3-41FA-9039-FD9E430F88E4}"/>
              </a:ext>
            </a:extLst>
          </p:cNvPr>
          <p:cNvSpPr txBox="1"/>
          <p:nvPr/>
        </p:nvSpPr>
        <p:spPr>
          <a:xfrm>
            <a:off x="7186001" y="2456902"/>
            <a:ext cx="30181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 школах не учат вести бюджет. Люди хотят контролировать деньги, но сложные приложения и таблицы их пугают.</a:t>
            </a:r>
          </a:p>
        </p:txBody>
      </p:sp>
    </p:spTree>
    <p:extLst>
      <p:ext uri="{BB962C8B-B14F-4D97-AF65-F5344CB8AC3E}">
        <p14:creationId xmlns:p14="http://schemas.microsoft.com/office/powerpoint/2010/main" val="2177735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2297136-D814-4E77-83D1-EB734A3AA457}"/>
              </a:ext>
            </a:extLst>
          </p:cNvPr>
          <p:cNvSpPr/>
          <p:nvPr/>
        </p:nvSpPr>
        <p:spPr>
          <a:xfrm flipH="1">
            <a:off x="6073140" y="-1"/>
            <a:ext cx="45719" cy="6858001"/>
          </a:xfrm>
          <a:prstGeom prst="rect">
            <a:avLst/>
          </a:prstGeom>
          <a:gradFill flip="none" rotWithShape="1">
            <a:gsLst>
              <a:gs pos="100000">
                <a:srgbClr val="6778A9"/>
              </a:gs>
              <a:gs pos="0">
                <a:srgbClr val="B0B0C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CBC7787-35EC-44AA-BA76-2395684AB5EA}"/>
              </a:ext>
            </a:extLst>
          </p:cNvPr>
          <p:cNvSpPr/>
          <p:nvPr/>
        </p:nvSpPr>
        <p:spPr>
          <a:xfrm>
            <a:off x="0" y="2460022"/>
            <a:ext cx="12192000" cy="45719"/>
          </a:xfrm>
          <a:prstGeom prst="rect">
            <a:avLst/>
          </a:prstGeom>
          <a:gradFill flip="none" rotWithShape="1">
            <a:gsLst>
              <a:gs pos="100000">
                <a:srgbClr val="6778A9"/>
              </a:gs>
              <a:gs pos="0">
                <a:srgbClr val="B0B0C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510C46-E386-4249-B312-CBF571282BE5}"/>
              </a:ext>
            </a:extLst>
          </p:cNvPr>
          <p:cNvSpPr txBox="1"/>
          <p:nvPr/>
        </p:nvSpPr>
        <p:spPr>
          <a:xfrm>
            <a:off x="314695" y="130629"/>
            <a:ext cx="3081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rgbClr val="0F1115"/>
                </a:solidFill>
                <a:latin typeface="Arial Black" panose="020B0A04020102020204" pitchFamily="34" charset="0"/>
              </a:rPr>
              <a:t>О проекте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6BCC17-9A61-47C7-AAF3-395DFD145853}"/>
              </a:ext>
            </a:extLst>
          </p:cNvPr>
          <p:cNvSpPr txBox="1"/>
          <p:nvPr/>
        </p:nvSpPr>
        <p:spPr>
          <a:xfrm>
            <a:off x="314695" y="838515"/>
            <a:ext cx="1218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CE6C7EAD-995C-47EA-894E-83C57BED56C3}"/>
              </a:ext>
            </a:extLst>
          </p:cNvPr>
          <p:cNvSpPr/>
          <p:nvPr/>
        </p:nvSpPr>
        <p:spPr>
          <a:xfrm>
            <a:off x="421575" y="1533054"/>
            <a:ext cx="700644" cy="700644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97990-2EDD-425C-B43E-DC81B8D8C985}"/>
              </a:ext>
            </a:extLst>
          </p:cNvPr>
          <p:cNvSpPr txBox="1"/>
          <p:nvPr/>
        </p:nvSpPr>
        <p:spPr>
          <a:xfrm>
            <a:off x="542507" y="1590988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ru-RU" sz="32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7F400B-A17A-416B-8393-DC30F4F4768B}"/>
              </a:ext>
            </a:extLst>
          </p:cNvPr>
          <p:cNvSpPr txBox="1"/>
          <p:nvPr/>
        </p:nvSpPr>
        <p:spPr>
          <a:xfrm>
            <a:off x="1122218" y="1467876"/>
            <a:ext cx="49737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Помощь в преодолении финансовой слепоты.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92F50374-6EF8-4992-8952-AFBDA5F9749F}"/>
              </a:ext>
            </a:extLst>
          </p:cNvPr>
          <p:cNvSpPr/>
          <p:nvPr/>
        </p:nvSpPr>
        <p:spPr>
          <a:xfrm>
            <a:off x="421575" y="2715638"/>
            <a:ext cx="700644" cy="700644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51CF28-BAD2-4FAA-9B4D-FACF63A698F9}"/>
              </a:ext>
            </a:extLst>
          </p:cNvPr>
          <p:cNvSpPr txBox="1"/>
          <p:nvPr/>
        </p:nvSpPr>
        <p:spPr>
          <a:xfrm>
            <a:off x="542507" y="2773572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ru-RU" sz="32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7738C7-CB87-4952-8714-93F53118C98C}"/>
              </a:ext>
            </a:extLst>
          </p:cNvPr>
          <p:cNvSpPr txBox="1"/>
          <p:nvPr/>
        </p:nvSpPr>
        <p:spPr>
          <a:xfrm>
            <a:off x="1122218" y="2664627"/>
            <a:ext cx="49737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Снижение импульсивных покупок.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8D5E505-AB76-4851-B389-1ADDE5140375}"/>
              </a:ext>
            </a:extLst>
          </p:cNvPr>
          <p:cNvSpPr/>
          <p:nvPr/>
        </p:nvSpPr>
        <p:spPr>
          <a:xfrm>
            <a:off x="427510" y="3894600"/>
            <a:ext cx="700644" cy="700644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0CB8CB-EF22-40F9-9289-34458B2A6C45}"/>
              </a:ext>
            </a:extLst>
          </p:cNvPr>
          <p:cNvSpPr txBox="1"/>
          <p:nvPr/>
        </p:nvSpPr>
        <p:spPr>
          <a:xfrm>
            <a:off x="548442" y="3952534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ru-RU" sz="32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C7BC6A-889B-4DFF-8812-9674870E9F5E}"/>
              </a:ext>
            </a:extLst>
          </p:cNvPr>
          <p:cNvSpPr txBox="1"/>
          <p:nvPr/>
        </p:nvSpPr>
        <p:spPr>
          <a:xfrm>
            <a:off x="1122218" y="3829422"/>
            <a:ext cx="5058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Обучение финансовой грамотности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BA36D5-1B53-43B5-B51B-FA35A02CE83A}"/>
              </a:ext>
            </a:extLst>
          </p:cNvPr>
          <p:cNvSpPr txBox="1"/>
          <p:nvPr/>
        </p:nvSpPr>
        <p:spPr>
          <a:xfrm>
            <a:off x="6181106" y="838515"/>
            <a:ext cx="2756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Механизм работы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08E3FF9-FEAA-4A90-9C86-09E315406D7B}"/>
              </a:ext>
            </a:extLst>
          </p:cNvPr>
          <p:cNvSpPr/>
          <p:nvPr/>
        </p:nvSpPr>
        <p:spPr>
          <a:xfrm>
            <a:off x="0" y="3624817"/>
            <a:ext cx="12192000" cy="45719"/>
          </a:xfrm>
          <a:prstGeom prst="rect">
            <a:avLst/>
          </a:prstGeom>
          <a:gradFill flip="none" rotWithShape="1">
            <a:gsLst>
              <a:gs pos="100000">
                <a:srgbClr val="6778A9"/>
              </a:gs>
              <a:gs pos="0">
                <a:srgbClr val="B0B0C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AFDCB7-27A1-4610-A216-FCC44307AB2C}"/>
              </a:ext>
            </a:extLst>
          </p:cNvPr>
          <p:cNvSpPr txBox="1"/>
          <p:nvPr/>
        </p:nvSpPr>
        <p:spPr>
          <a:xfrm>
            <a:off x="6181106" y="3829421"/>
            <a:ext cx="49737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Нулевой порог входа, понятный интерфейс, подсказки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A8E84A-5120-4233-94D1-06137336359F}"/>
              </a:ext>
            </a:extLst>
          </p:cNvPr>
          <p:cNvSpPr txBox="1"/>
          <p:nvPr/>
        </p:nvSpPr>
        <p:spPr>
          <a:xfrm>
            <a:off x="6181106" y="2664626"/>
            <a:ext cx="49737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Визуализация пиков расходов по категориям/дням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2B805F-164D-4F69-BB3C-18F6769A92D4}"/>
              </a:ext>
            </a:extLst>
          </p:cNvPr>
          <p:cNvSpPr txBox="1"/>
          <p:nvPr/>
        </p:nvSpPr>
        <p:spPr>
          <a:xfrm>
            <a:off x="6181106" y="1467876"/>
            <a:ext cx="49737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Мгновенная фиксация каждой траты в чате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1D09D6BC-4DD6-4C60-8994-6E9EF3A478EA}"/>
              </a:ext>
            </a:extLst>
          </p:cNvPr>
          <p:cNvSpPr/>
          <p:nvPr/>
        </p:nvSpPr>
        <p:spPr>
          <a:xfrm>
            <a:off x="-1" y="1346906"/>
            <a:ext cx="12192000" cy="45719"/>
          </a:xfrm>
          <a:prstGeom prst="rect">
            <a:avLst/>
          </a:prstGeom>
          <a:gradFill flip="none" rotWithShape="1">
            <a:gsLst>
              <a:gs pos="100000">
                <a:srgbClr val="6778A9"/>
              </a:gs>
              <a:gs pos="0">
                <a:srgbClr val="B0B0C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362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4A4EBC-E522-4707-AAB2-82F77A042C8A}"/>
              </a:ext>
            </a:extLst>
          </p:cNvPr>
          <p:cNvSpPr txBox="1"/>
          <p:nvPr/>
        </p:nvSpPr>
        <p:spPr>
          <a:xfrm>
            <a:off x="314695" y="130629"/>
            <a:ext cx="3081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rgbClr val="0F1115"/>
                </a:solidFill>
                <a:latin typeface="Arial Black" panose="020B0A04020102020204" pitchFamily="34" charset="0"/>
              </a:rPr>
              <a:t>О проекте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E64219-7FE5-44DC-A58D-07EF4A9A78A5}"/>
              </a:ext>
            </a:extLst>
          </p:cNvPr>
          <p:cNvSpPr txBox="1"/>
          <p:nvPr/>
        </p:nvSpPr>
        <p:spPr>
          <a:xfrm>
            <a:off x="314695" y="838515"/>
            <a:ext cx="3619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Сравнение с аналогами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224DFC-E2DA-4310-A7DD-0FD2E110835D}"/>
              </a:ext>
            </a:extLst>
          </p:cNvPr>
          <p:cNvSpPr txBox="1"/>
          <p:nvPr/>
        </p:nvSpPr>
        <p:spPr>
          <a:xfrm>
            <a:off x="209305" y="2363219"/>
            <a:ext cx="24193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💰 Цена/месяц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4ECFDE-A737-4554-8D33-FDE8E4274639}"/>
              </a:ext>
            </a:extLst>
          </p:cNvPr>
          <p:cNvSpPr txBox="1"/>
          <p:nvPr/>
        </p:nvSpPr>
        <p:spPr>
          <a:xfrm>
            <a:off x="209305" y="2919288"/>
            <a:ext cx="25565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⚡ Ввод записи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8DA111-F77E-4655-BFAA-AE6509A83B86}"/>
              </a:ext>
            </a:extLst>
          </p:cNvPr>
          <p:cNvSpPr txBox="1"/>
          <p:nvPr/>
        </p:nvSpPr>
        <p:spPr>
          <a:xfrm>
            <a:off x="209305" y="3475357"/>
            <a:ext cx="25101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📱 Платформа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6594FE-CE3D-4627-9214-3BE8F4B6744E}"/>
              </a:ext>
            </a:extLst>
          </p:cNvPr>
          <p:cNvSpPr txBox="1"/>
          <p:nvPr/>
        </p:nvSpPr>
        <p:spPr>
          <a:xfrm>
            <a:off x="209305" y="4031517"/>
            <a:ext cx="25101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📊 Графики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CF1AC7-15D1-4360-AB1C-FD9A8AEB2EFA}"/>
              </a:ext>
            </a:extLst>
          </p:cNvPr>
          <p:cNvSpPr txBox="1"/>
          <p:nvPr/>
        </p:nvSpPr>
        <p:spPr>
          <a:xfrm>
            <a:off x="209305" y="4587586"/>
            <a:ext cx="25101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🔒 Данные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195DCC-074E-4ECD-9B73-3F397465513B}"/>
              </a:ext>
            </a:extLst>
          </p:cNvPr>
          <p:cNvSpPr txBox="1"/>
          <p:nvPr/>
        </p:nvSpPr>
        <p:spPr>
          <a:xfrm>
            <a:off x="209305" y="5143655"/>
            <a:ext cx="24626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🗑️ Удаление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403DB1-D182-49E1-9BDE-F0AE462FEDA8}"/>
              </a:ext>
            </a:extLst>
          </p:cNvPr>
          <p:cNvSpPr txBox="1"/>
          <p:nvPr/>
        </p:nvSpPr>
        <p:spPr>
          <a:xfrm>
            <a:off x="209305" y="5696986"/>
            <a:ext cx="25101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🎓 Освоение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AA78D2-6149-40B5-B97F-FDF31BAB9BDF}"/>
              </a:ext>
            </a:extLst>
          </p:cNvPr>
          <p:cNvSpPr txBox="1"/>
          <p:nvPr/>
        </p:nvSpPr>
        <p:spPr>
          <a:xfrm>
            <a:off x="209305" y="6256146"/>
            <a:ext cx="24626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📤 Экспорт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1601E5-DC8D-4852-B93F-2B861C67F96D}"/>
              </a:ext>
            </a:extLst>
          </p:cNvPr>
          <p:cNvSpPr txBox="1"/>
          <p:nvPr/>
        </p:nvSpPr>
        <p:spPr>
          <a:xfrm>
            <a:off x="720385" y="1564819"/>
            <a:ext cx="1534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Критерий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5972C22-BD16-4A9E-BC95-71FAEB5E1037}"/>
              </a:ext>
            </a:extLst>
          </p:cNvPr>
          <p:cNvSpPr/>
          <p:nvPr/>
        </p:nvSpPr>
        <p:spPr>
          <a:xfrm flipH="1">
            <a:off x="2765858" y="1300180"/>
            <a:ext cx="45719" cy="5562285"/>
          </a:xfrm>
          <a:prstGeom prst="rect">
            <a:avLst/>
          </a:prstGeom>
          <a:gradFill flip="none" rotWithShape="1">
            <a:gsLst>
              <a:gs pos="0">
                <a:srgbClr val="7F82F1"/>
              </a:gs>
              <a:gs pos="100000">
                <a:srgbClr val="6DBF9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69CA9CD6-F4FB-4C6D-BA32-2BA9DD675A2A}"/>
              </a:ext>
            </a:extLst>
          </p:cNvPr>
          <p:cNvSpPr/>
          <p:nvPr/>
        </p:nvSpPr>
        <p:spPr>
          <a:xfrm rot="5400000" flipH="1">
            <a:off x="6073141" y="-3800946"/>
            <a:ext cx="45719" cy="12192000"/>
          </a:xfrm>
          <a:prstGeom prst="rect">
            <a:avLst/>
          </a:prstGeom>
          <a:gradFill flip="none" rotWithShape="1">
            <a:gsLst>
              <a:gs pos="0">
                <a:srgbClr val="7F82F1"/>
              </a:gs>
              <a:gs pos="100000">
                <a:srgbClr val="6DBF9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86CC6D1-EF6C-4B27-838D-577BE98AB713}"/>
              </a:ext>
            </a:extLst>
          </p:cNvPr>
          <p:cNvSpPr/>
          <p:nvPr/>
        </p:nvSpPr>
        <p:spPr>
          <a:xfrm rot="5400000" flipH="1">
            <a:off x="6073141" y="-3186482"/>
            <a:ext cx="45719" cy="12192000"/>
          </a:xfrm>
          <a:prstGeom prst="rect">
            <a:avLst/>
          </a:prstGeom>
          <a:gradFill flip="none" rotWithShape="1">
            <a:gsLst>
              <a:gs pos="0">
                <a:srgbClr val="7F82F1"/>
              </a:gs>
              <a:gs pos="100000">
                <a:srgbClr val="6DBF9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79CB241-E30B-48FB-8E1D-5933EF8B7655}"/>
              </a:ext>
            </a:extLst>
          </p:cNvPr>
          <p:cNvSpPr/>
          <p:nvPr/>
        </p:nvSpPr>
        <p:spPr>
          <a:xfrm rot="5400000" flipH="1">
            <a:off x="6073143" y="-2656908"/>
            <a:ext cx="45719" cy="12192000"/>
          </a:xfrm>
          <a:prstGeom prst="rect">
            <a:avLst/>
          </a:prstGeom>
          <a:gradFill flip="none" rotWithShape="1">
            <a:gsLst>
              <a:gs pos="0">
                <a:srgbClr val="7F82F1"/>
              </a:gs>
              <a:gs pos="100000">
                <a:srgbClr val="6DBF9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05BED45-D3C3-4262-ACA1-B00194CDA023}"/>
              </a:ext>
            </a:extLst>
          </p:cNvPr>
          <p:cNvSpPr/>
          <p:nvPr/>
        </p:nvSpPr>
        <p:spPr>
          <a:xfrm rot="5400000" flipH="1">
            <a:off x="6073141" y="-2099085"/>
            <a:ext cx="45719" cy="12192000"/>
          </a:xfrm>
          <a:prstGeom prst="rect">
            <a:avLst/>
          </a:prstGeom>
          <a:gradFill flip="none" rotWithShape="1">
            <a:gsLst>
              <a:gs pos="0">
                <a:srgbClr val="7F82F1"/>
              </a:gs>
              <a:gs pos="100000">
                <a:srgbClr val="6DBF9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C3A474A-2415-4B02-8E85-906EAD2904D5}"/>
              </a:ext>
            </a:extLst>
          </p:cNvPr>
          <p:cNvSpPr/>
          <p:nvPr/>
        </p:nvSpPr>
        <p:spPr>
          <a:xfrm rot="5400000" flipH="1">
            <a:off x="6073141" y="-1534012"/>
            <a:ext cx="45719" cy="12192000"/>
          </a:xfrm>
          <a:prstGeom prst="rect">
            <a:avLst/>
          </a:prstGeom>
          <a:gradFill flip="none" rotWithShape="1">
            <a:gsLst>
              <a:gs pos="0">
                <a:srgbClr val="7F82F1"/>
              </a:gs>
              <a:gs pos="100000">
                <a:srgbClr val="6DBF9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9DC40E6-D54B-4F90-88ED-6C0356D20C40}"/>
              </a:ext>
            </a:extLst>
          </p:cNvPr>
          <p:cNvSpPr/>
          <p:nvPr/>
        </p:nvSpPr>
        <p:spPr>
          <a:xfrm rot="5400000" flipH="1">
            <a:off x="6073141" y="-991979"/>
            <a:ext cx="45719" cy="12192000"/>
          </a:xfrm>
          <a:prstGeom prst="rect">
            <a:avLst/>
          </a:prstGeom>
          <a:gradFill flip="none" rotWithShape="1">
            <a:gsLst>
              <a:gs pos="0">
                <a:srgbClr val="7F82F1"/>
              </a:gs>
              <a:gs pos="100000">
                <a:srgbClr val="6DBF9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8D6E771-FD1F-4089-AA49-148C76B29024}"/>
              </a:ext>
            </a:extLst>
          </p:cNvPr>
          <p:cNvSpPr/>
          <p:nvPr/>
        </p:nvSpPr>
        <p:spPr>
          <a:xfrm rot="5400000" flipH="1">
            <a:off x="6073142" y="-399015"/>
            <a:ext cx="45719" cy="12192000"/>
          </a:xfrm>
          <a:prstGeom prst="rect">
            <a:avLst/>
          </a:prstGeom>
          <a:gradFill flip="none" rotWithShape="1">
            <a:gsLst>
              <a:gs pos="0">
                <a:srgbClr val="7F82F1"/>
              </a:gs>
              <a:gs pos="100000">
                <a:srgbClr val="6DBF9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B85F26E-08F2-404D-B443-8FE015ADF857}"/>
              </a:ext>
            </a:extLst>
          </p:cNvPr>
          <p:cNvSpPr/>
          <p:nvPr/>
        </p:nvSpPr>
        <p:spPr>
          <a:xfrm rot="5400000" flipH="1">
            <a:off x="6073143" y="153844"/>
            <a:ext cx="45719" cy="12192000"/>
          </a:xfrm>
          <a:prstGeom prst="rect">
            <a:avLst/>
          </a:prstGeom>
          <a:gradFill flip="none" rotWithShape="1">
            <a:gsLst>
              <a:gs pos="0">
                <a:srgbClr val="7F82F1"/>
              </a:gs>
              <a:gs pos="100000">
                <a:srgbClr val="6DBF9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8F6B67-81FF-4A13-A026-47C2B1B3A8A8}"/>
              </a:ext>
            </a:extLst>
          </p:cNvPr>
          <p:cNvSpPr txBox="1"/>
          <p:nvPr/>
        </p:nvSpPr>
        <p:spPr>
          <a:xfrm>
            <a:off x="2972966" y="1564873"/>
            <a:ext cx="20476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ExpenseFlow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146E0E-6C8B-4368-B874-E5382B85C8B3}"/>
              </a:ext>
            </a:extLst>
          </p:cNvPr>
          <p:cNvSpPr txBox="1"/>
          <p:nvPr/>
        </p:nvSpPr>
        <p:spPr>
          <a:xfrm>
            <a:off x="2975197" y="2363911"/>
            <a:ext cx="27602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>
                <a:latin typeface="Arial" panose="020B0604020202020204" pitchFamily="34" charset="0"/>
                <a:cs typeface="Arial" panose="020B0604020202020204" pitchFamily="34" charset="0"/>
              </a:rPr>
              <a:t>500 ₽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C8C301-C0A1-4E7E-9384-B40D6EC1C41E}"/>
              </a:ext>
            </a:extLst>
          </p:cNvPr>
          <p:cNvSpPr txBox="1"/>
          <p:nvPr/>
        </p:nvSpPr>
        <p:spPr>
          <a:xfrm>
            <a:off x="2811577" y="2938612"/>
            <a:ext cx="28707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⚡ 2 сек (чат)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E4141D-2B2A-4B42-AA32-94E1E537599D}"/>
              </a:ext>
            </a:extLst>
          </p:cNvPr>
          <p:cNvSpPr txBox="1"/>
          <p:nvPr/>
        </p:nvSpPr>
        <p:spPr>
          <a:xfrm>
            <a:off x="2972966" y="3475661"/>
            <a:ext cx="27093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Telegram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8140A1-3BB9-471F-A4DB-E4E310156B22}"/>
              </a:ext>
            </a:extLst>
          </p:cNvPr>
          <p:cNvSpPr txBox="1"/>
          <p:nvPr/>
        </p:nvSpPr>
        <p:spPr>
          <a:xfrm>
            <a:off x="2972966" y="4036930"/>
            <a:ext cx="28403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🔄 Авто-масштаб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DCAD0D-0895-4B09-9BFA-AF15E40A1BC4}"/>
              </a:ext>
            </a:extLst>
          </p:cNvPr>
          <p:cNvSpPr txBox="1"/>
          <p:nvPr/>
        </p:nvSpPr>
        <p:spPr>
          <a:xfrm>
            <a:off x="2972966" y="4591527"/>
            <a:ext cx="2956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🗂️ Ваши файлы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D4F645-060D-40D3-8069-45E8E726C49F}"/>
              </a:ext>
            </a:extLst>
          </p:cNvPr>
          <p:cNvSpPr txBox="1"/>
          <p:nvPr/>
        </p:nvSpPr>
        <p:spPr>
          <a:xfrm>
            <a:off x="2972966" y="5141578"/>
            <a:ext cx="2956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✅ 1 клик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76602A-611C-4718-ABB2-97450CA5C306}"/>
              </a:ext>
            </a:extLst>
          </p:cNvPr>
          <p:cNvSpPr txBox="1"/>
          <p:nvPr/>
        </p:nvSpPr>
        <p:spPr>
          <a:xfrm>
            <a:off x="2972966" y="5719845"/>
            <a:ext cx="30017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🟢 0 минут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750DE8-770F-4797-8980-B8B3C4669071}"/>
              </a:ext>
            </a:extLst>
          </p:cNvPr>
          <p:cNvSpPr txBox="1"/>
          <p:nvPr/>
        </p:nvSpPr>
        <p:spPr>
          <a:xfrm>
            <a:off x="2972966" y="6277881"/>
            <a:ext cx="2956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0A97F993-C561-4714-B404-00CD3A1208DC}"/>
              </a:ext>
            </a:extLst>
          </p:cNvPr>
          <p:cNvSpPr/>
          <p:nvPr/>
        </p:nvSpPr>
        <p:spPr>
          <a:xfrm flipH="1">
            <a:off x="5974752" y="1300180"/>
            <a:ext cx="45719" cy="5562285"/>
          </a:xfrm>
          <a:prstGeom prst="rect">
            <a:avLst/>
          </a:prstGeom>
          <a:gradFill flip="none" rotWithShape="1">
            <a:gsLst>
              <a:gs pos="0">
                <a:srgbClr val="7F82F1"/>
              </a:gs>
              <a:gs pos="100000">
                <a:srgbClr val="6DBF9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F663CBA-D257-4441-AF21-64C51E6EB8C9}"/>
              </a:ext>
            </a:extLst>
          </p:cNvPr>
          <p:cNvSpPr txBox="1"/>
          <p:nvPr/>
        </p:nvSpPr>
        <p:spPr>
          <a:xfrm>
            <a:off x="6173548" y="1562372"/>
            <a:ext cx="22478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Дзен-мани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8A100E3-78F2-43D9-86B8-206800317315}"/>
              </a:ext>
            </a:extLst>
          </p:cNvPr>
          <p:cNvSpPr txBox="1"/>
          <p:nvPr/>
        </p:nvSpPr>
        <p:spPr>
          <a:xfrm>
            <a:off x="6171531" y="2365299"/>
            <a:ext cx="1038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299 ₽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E23F4A-8984-4667-A209-7949D2AAFBE4}"/>
              </a:ext>
            </a:extLst>
          </p:cNvPr>
          <p:cNvSpPr txBox="1"/>
          <p:nvPr/>
        </p:nvSpPr>
        <p:spPr>
          <a:xfrm>
            <a:off x="6096000" y="2931830"/>
            <a:ext cx="16882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🐢 15 сек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A64A71F-7EE3-4467-B077-C3D5A1B90C5A}"/>
              </a:ext>
            </a:extLst>
          </p:cNvPr>
          <p:cNvSpPr txBox="1"/>
          <p:nvPr/>
        </p:nvSpPr>
        <p:spPr>
          <a:xfrm>
            <a:off x="6096000" y="3485643"/>
            <a:ext cx="2496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📱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App + Web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06FEF5-70D0-4AC5-9A8E-1E9ADCD71ADB}"/>
              </a:ext>
            </a:extLst>
          </p:cNvPr>
          <p:cNvSpPr txBox="1"/>
          <p:nvPr/>
        </p:nvSpPr>
        <p:spPr>
          <a:xfrm>
            <a:off x="6152829" y="4054490"/>
            <a:ext cx="22685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📐 Статичные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3FCEFF5-0807-4116-9E77-0AE6760481A3}"/>
              </a:ext>
            </a:extLst>
          </p:cNvPr>
          <p:cNvSpPr txBox="1"/>
          <p:nvPr/>
        </p:nvSpPr>
        <p:spPr>
          <a:xfrm>
            <a:off x="6137870" y="4596759"/>
            <a:ext cx="1877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☁️ Облако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AB5D6D-A690-4FFF-9808-6C77FDFC0E9B}"/>
              </a:ext>
            </a:extLst>
          </p:cNvPr>
          <p:cNvSpPr txBox="1"/>
          <p:nvPr/>
        </p:nvSpPr>
        <p:spPr>
          <a:xfrm>
            <a:off x="6181860" y="5161529"/>
            <a:ext cx="17416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🔍 Поиск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DE3894A-10E2-47BE-A275-65933C470418}"/>
              </a:ext>
            </a:extLst>
          </p:cNvPr>
          <p:cNvSpPr txBox="1"/>
          <p:nvPr/>
        </p:nvSpPr>
        <p:spPr>
          <a:xfrm>
            <a:off x="6214062" y="5722079"/>
            <a:ext cx="1709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🟡 10 мин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CB67C47-AF75-47D7-86E5-1A3A1FEE8D49}"/>
              </a:ext>
            </a:extLst>
          </p:cNvPr>
          <p:cNvSpPr txBox="1"/>
          <p:nvPr/>
        </p:nvSpPr>
        <p:spPr>
          <a:xfrm>
            <a:off x="6259781" y="6313282"/>
            <a:ext cx="1524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CSV/PDF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99C87995-017B-40B1-B784-A32032FA83A0}"/>
              </a:ext>
            </a:extLst>
          </p:cNvPr>
          <p:cNvSpPr/>
          <p:nvPr/>
        </p:nvSpPr>
        <p:spPr>
          <a:xfrm flipH="1">
            <a:off x="8751099" y="1300179"/>
            <a:ext cx="45719" cy="5562285"/>
          </a:xfrm>
          <a:prstGeom prst="rect">
            <a:avLst/>
          </a:prstGeom>
          <a:gradFill flip="none" rotWithShape="1">
            <a:gsLst>
              <a:gs pos="0">
                <a:srgbClr val="7F82F1"/>
              </a:gs>
              <a:gs pos="100000">
                <a:srgbClr val="6DBF9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C519616-B22D-4025-8B6F-A1BDA9757511}"/>
              </a:ext>
            </a:extLst>
          </p:cNvPr>
          <p:cNvSpPr txBox="1"/>
          <p:nvPr/>
        </p:nvSpPr>
        <p:spPr>
          <a:xfrm>
            <a:off x="8935190" y="1566323"/>
            <a:ext cx="19700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CoinKeeper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C0193B-B0D3-4AFB-ABAB-DC499686C099}"/>
              </a:ext>
            </a:extLst>
          </p:cNvPr>
          <p:cNvSpPr txBox="1"/>
          <p:nvPr/>
        </p:nvSpPr>
        <p:spPr>
          <a:xfrm>
            <a:off x="8955226" y="2340893"/>
            <a:ext cx="1223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199 ₽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E0AFEF3-361B-4376-A1B0-E465EAD1412B}"/>
              </a:ext>
            </a:extLst>
          </p:cNvPr>
          <p:cNvSpPr txBox="1"/>
          <p:nvPr/>
        </p:nvSpPr>
        <p:spPr>
          <a:xfrm>
            <a:off x="8955226" y="2941193"/>
            <a:ext cx="16680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🐢 20 сек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6C4D3E7-8368-4AB1-A108-98D27FEBAC48}"/>
              </a:ext>
            </a:extLst>
          </p:cNvPr>
          <p:cNvSpPr txBox="1"/>
          <p:nvPr/>
        </p:nvSpPr>
        <p:spPr>
          <a:xfrm>
            <a:off x="8935190" y="3485873"/>
            <a:ext cx="20872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📱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App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21AE1B0-42DF-4085-8775-7A685F49D1E6}"/>
              </a:ext>
            </a:extLst>
          </p:cNvPr>
          <p:cNvSpPr txBox="1"/>
          <p:nvPr/>
        </p:nvSpPr>
        <p:spPr>
          <a:xfrm>
            <a:off x="8952980" y="4057196"/>
            <a:ext cx="23641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📐 Статичные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6077F5D-3207-4338-B653-36DCF5A836F5}"/>
              </a:ext>
            </a:extLst>
          </p:cNvPr>
          <p:cNvSpPr txBox="1"/>
          <p:nvPr/>
        </p:nvSpPr>
        <p:spPr>
          <a:xfrm>
            <a:off x="8952980" y="4587401"/>
            <a:ext cx="1877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☁️ Облако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9FDDAB7-F2E0-41C4-826C-84866F3FA174}"/>
              </a:ext>
            </a:extLst>
          </p:cNvPr>
          <p:cNvSpPr txBox="1"/>
          <p:nvPr/>
        </p:nvSpPr>
        <p:spPr>
          <a:xfrm>
            <a:off x="8952980" y="5157299"/>
            <a:ext cx="17416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🔍 Поиск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5FADDFF-22D9-4C54-9DED-A031A08E581E}"/>
              </a:ext>
            </a:extLst>
          </p:cNvPr>
          <p:cNvSpPr txBox="1"/>
          <p:nvPr/>
        </p:nvSpPr>
        <p:spPr>
          <a:xfrm>
            <a:off x="8935190" y="5731152"/>
            <a:ext cx="1709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🟡 15 мин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52D23B3-D64F-4C95-BBDF-74AF2DB80665}"/>
              </a:ext>
            </a:extLst>
          </p:cNvPr>
          <p:cNvSpPr txBox="1"/>
          <p:nvPr/>
        </p:nvSpPr>
        <p:spPr>
          <a:xfrm>
            <a:off x="8952980" y="6318178"/>
            <a:ext cx="1524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689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D8C8DF1-C4E6-4250-AAA9-C44229701C7B}"/>
              </a:ext>
            </a:extLst>
          </p:cNvPr>
          <p:cNvSpPr/>
          <p:nvPr/>
        </p:nvSpPr>
        <p:spPr>
          <a:xfrm>
            <a:off x="8746678" y="2520468"/>
            <a:ext cx="3253957" cy="22593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970826F-2EDF-47B6-85C1-2E556926E552}"/>
              </a:ext>
            </a:extLst>
          </p:cNvPr>
          <p:cNvSpPr/>
          <p:nvPr/>
        </p:nvSpPr>
        <p:spPr>
          <a:xfrm>
            <a:off x="3972197" y="2520468"/>
            <a:ext cx="4198271" cy="42840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83C0A63-F776-4AB7-8B68-41CCA009D664}"/>
              </a:ext>
            </a:extLst>
          </p:cNvPr>
          <p:cNvSpPr/>
          <p:nvPr/>
        </p:nvSpPr>
        <p:spPr>
          <a:xfrm>
            <a:off x="142030" y="2520468"/>
            <a:ext cx="3253957" cy="22593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3C9C6-9365-4296-A2D6-518227C4545B}"/>
              </a:ext>
            </a:extLst>
          </p:cNvPr>
          <p:cNvSpPr txBox="1"/>
          <p:nvPr/>
        </p:nvSpPr>
        <p:spPr>
          <a:xfrm>
            <a:off x="314695" y="130629"/>
            <a:ext cx="3081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rgbClr val="0F1115"/>
                </a:solidFill>
                <a:latin typeface="Arial Black" panose="020B0A04020102020204" pitchFamily="34" charset="0"/>
              </a:rPr>
              <a:t>О проекте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AC28C-6E54-4690-AAD6-1C23B206101A}"/>
              </a:ext>
            </a:extLst>
          </p:cNvPr>
          <p:cNvSpPr txBox="1"/>
          <p:nvPr/>
        </p:nvSpPr>
        <p:spPr>
          <a:xfrm>
            <a:off x="314695" y="838515"/>
            <a:ext cx="1752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Экономика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D17408-D7CC-4C3E-BBA2-A932EBAF3269}"/>
              </a:ext>
            </a:extLst>
          </p:cNvPr>
          <p:cNvSpPr txBox="1"/>
          <p:nvPr/>
        </p:nvSpPr>
        <p:spPr>
          <a:xfrm>
            <a:off x="1467931" y="1803442"/>
            <a:ext cx="1394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Хостинг: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F344B0-5A76-4DA1-BC80-3C9B8EA268DA}"/>
              </a:ext>
            </a:extLst>
          </p:cNvPr>
          <p:cNvSpPr txBox="1"/>
          <p:nvPr/>
        </p:nvSpPr>
        <p:spPr>
          <a:xfrm>
            <a:off x="214378" y="2723819"/>
            <a:ext cx="31816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Аренда сервера будет производится на сайте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Bothost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Тариф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(250руб/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мес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759A97-F2C8-4C8E-9F96-CDC1ED85318B}"/>
              </a:ext>
            </a:extLst>
          </p:cNvPr>
          <p:cNvSpPr txBox="1"/>
          <p:nvPr/>
        </p:nvSpPr>
        <p:spPr>
          <a:xfrm>
            <a:off x="4978007" y="1772430"/>
            <a:ext cx="1633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Подписки: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B78E8D-AE6F-45B8-A061-FFE11E23D567}"/>
              </a:ext>
            </a:extLst>
          </p:cNvPr>
          <p:cNvSpPr txBox="1"/>
          <p:nvPr/>
        </p:nvSpPr>
        <p:spPr>
          <a:xfrm>
            <a:off x="4040170" y="2585022"/>
            <a:ext cx="419827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 боте будут присутствовать 2 подписки: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Одиночная – 500руб/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мес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Подписка действует только на одного человека и позволяет выполнять все функции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Групповая – 1500руб/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мес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Подписка действует на несколько людей (до 8 человек)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E6953B-55BC-4FB6-9658-AD16E543A238}"/>
              </a:ext>
            </a:extLst>
          </p:cNvPr>
          <p:cNvSpPr txBox="1"/>
          <p:nvPr/>
        </p:nvSpPr>
        <p:spPr>
          <a:xfrm>
            <a:off x="9912621" y="1803442"/>
            <a:ext cx="1099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Касса: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B3F0B1-8ED2-4F89-9B88-8FAA936D4F71}"/>
              </a:ext>
            </a:extLst>
          </p:cNvPr>
          <p:cNvSpPr txBox="1"/>
          <p:nvPr/>
        </p:nvSpPr>
        <p:spPr>
          <a:xfrm>
            <a:off x="8746678" y="2495981"/>
            <a:ext cx="33899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Для возможности оплаты счета к боту будет привязана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YooKassa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 Комиссия при транзакции составляет 3.5%.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81E074-CCA5-4F30-9B37-F377B4E326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89" y="1538326"/>
            <a:ext cx="939480" cy="93948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F097252-6910-4019-B68D-EC4528F30D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527" y="1533523"/>
            <a:ext cx="939480" cy="93948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8200BC-64D5-45A8-8CAE-70DDA85AB8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800" y="1486058"/>
            <a:ext cx="986945" cy="98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06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1DBF619B-FBFE-4A28-B837-B61072BF7CB2}"/>
              </a:ext>
            </a:extLst>
          </p:cNvPr>
          <p:cNvCxnSpPr>
            <a:cxnSpLocks/>
          </p:cNvCxnSpPr>
          <p:nvPr/>
        </p:nvCxnSpPr>
        <p:spPr>
          <a:xfrm flipV="1">
            <a:off x="7469415" y="1615883"/>
            <a:ext cx="458154" cy="390833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06C86B6A-6E31-4C8B-8D80-C254CA2413DE}"/>
              </a:ext>
            </a:extLst>
          </p:cNvPr>
          <p:cNvCxnSpPr>
            <a:cxnSpLocks/>
          </p:cNvCxnSpPr>
          <p:nvPr/>
        </p:nvCxnSpPr>
        <p:spPr>
          <a:xfrm>
            <a:off x="7238931" y="3101226"/>
            <a:ext cx="779566" cy="1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2D275DDA-D8EB-4C39-88F0-E8B1F897DC56}"/>
              </a:ext>
            </a:extLst>
          </p:cNvPr>
          <p:cNvCxnSpPr>
            <a:cxnSpLocks/>
          </p:cNvCxnSpPr>
          <p:nvPr/>
        </p:nvCxnSpPr>
        <p:spPr>
          <a:xfrm flipV="1">
            <a:off x="6098272" y="3413594"/>
            <a:ext cx="0" cy="952962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8DFEBE8B-5F60-4292-859E-F22F602DEE85}"/>
              </a:ext>
            </a:extLst>
          </p:cNvPr>
          <p:cNvCxnSpPr>
            <a:cxnSpLocks/>
          </p:cNvCxnSpPr>
          <p:nvPr/>
        </p:nvCxnSpPr>
        <p:spPr>
          <a:xfrm flipH="1" flipV="1">
            <a:off x="4304805" y="1715986"/>
            <a:ext cx="507562" cy="290944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0D168411-5400-460F-B434-2CE818994A2F}"/>
              </a:ext>
            </a:extLst>
          </p:cNvPr>
          <p:cNvCxnSpPr>
            <a:cxnSpLocks/>
          </p:cNvCxnSpPr>
          <p:nvPr/>
        </p:nvCxnSpPr>
        <p:spPr>
          <a:xfrm>
            <a:off x="3956114" y="2777376"/>
            <a:ext cx="779566" cy="1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620F96-2891-410D-9EC3-D8C0025F4369}"/>
              </a:ext>
            </a:extLst>
          </p:cNvPr>
          <p:cNvSpPr txBox="1"/>
          <p:nvPr/>
        </p:nvSpPr>
        <p:spPr>
          <a:xfrm>
            <a:off x="314695" y="130629"/>
            <a:ext cx="3081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rgbClr val="0F1115"/>
                </a:solidFill>
                <a:latin typeface="Arial Black" panose="020B0A04020102020204" pitchFamily="34" charset="0"/>
              </a:rPr>
              <a:t>О проекте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09CA7-5BBD-48D3-A72F-174CAA0B20EB}"/>
              </a:ext>
            </a:extLst>
          </p:cNvPr>
          <p:cNvSpPr txBox="1"/>
          <p:nvPr/>
        </p:nvSpPr>
        <p:spPr>
          <a:xfrm>
            <a:off x="314695" y="838515"/>
            <a:ext cx="2895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Схема реализации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A7D3B-C4E4-46ED-850B-7AB02C59C6ED}"/>
              </a:ext>
            </a:extLst>
          </p:cNvPr>
          <p:cNvSpPr txBox="1"/>
          <p:nvPr/>
        </p:nvSpPr>
        <p:spPr>
          <a:xfrm>
            <a:off x="92366" y="1366789"/>
            <a:ext cx="3505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1. Подготовка окружения и базовая архитектура: Создание скелета проекта, 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399CCE-8222-4D3C-B949-13105E99082D}"/>
              </a:ext>
            </a:extLst>
          </p:cNvPr>
          <p:cNvSpPr txBox="1"/>
          <p:nvPr/>
        </p:nvSpPr>
        <p:spPr>
          <a:xfrm>
            <a:off x="186511" y="3890075"/>
            <a:ext cx="376168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Обработка файлов Excel: Научить бота принимать файлы, проверять их и извлекать данные</a:t>
            </a:r>
          </a:p>
          <a:p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B91A93-F7FD-4D6A-909A-65829D26629E}"/>
              </a:ext>
            </a:extLst>
          </p:cNvPr>
          <p:cNvSpPr txBox="1"/>
          <p:nvPr/>
        </p:nvSpPr>
        <p:spPr>
          <a:xfrm>
            <a:off x="4556860" y="4435053"/>
            <a:ext cx="37161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3. Логика расчета и безопасности: Реализовать расчеты, добавить защиту от ошибок и временное хранилище данных</a:t>
            </a:r>
          </a:p>
          <a:p>
            <a:endParaRPr lang="ru-RU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91D584-9380-46A4-9ACA-82F8C67B9664}"/>
              </a:ext>
            </a:extLst>
          </p:cNvPr>
          <p:cNvSpPr txBox="1"/>
          <p:nvPr/>
        </p:nvSpPr>
        <p:spPr>
          <a:xfrm>
            <a:off x="8205385" y="4028574"/>
            <a:ext cx="38001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4. Визуализация данных: Реализовать построение графиков и отправку их пользователю</a:t>
            </a:r>
          </a:p>
          <a:p>
            <a:endParaRPr lang="ru-R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9BF79E-EB15-40B1-A642-BA523C2F9FE1}"/>
              </a:ext>
            </a:extLst>
          </p:cNvPr>
          <p:cNvSpPr txBox="1"/>
          <p:nvPr/>
        </p:nvSpPr>
        <p:spPr>
          <a:xfrm>
            <a:off x="8488988" y="515218"/>
            <a:ext cx="37030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5.Полировка, логирование и деплой: Завершить разработку, исправить баги, запустить бота в стабильную работу (хостинг)</a:t>
            </a:r>
          </a:p>
          <a:p>
            <a:endParaRPr lang="ru-RU" sz="2400" dirty="0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26AE664D-8153-4C8D-B5A7-14A275A331B0}"/>
              </a:ext>
            </a:extLst>
          </p:cNvPr>
          <p:cNvGrpSpPr/>
          <p:nvPr/>
        </p:nvGrpSpPr>
        <p:grpSpPr>
          <a:xfrm>
            <a:off x="4568057" y="755683"/>
            <a:ext cx="3096260" cy="3096260"/>
            <a:chOff x="4547870" y="1880870"/>
            <a:chExt cx="3096260" cy="3096260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F2B1FE20-D356-4B9A-965D-107358B10E1E}"/>
                </a:ext>
              </a:extLst>
            </p:cNvPr>
            <p:cNvGrpSpPr/>
            <p:nvPr/>
          </p:nvGrpSpPr>
          <p:grpSpPr>
            <a:xfrm>
              <a:off x="4547870" y="1880870"/>
              <a:ext cx="3096260" cy="3096260"/>
              <a:chOff x="4547870" y="1889820"/>
              <a:chExt cx="3096260" cy="3096260"/>
            </a:xfrm>
          </p:grpSpPr>
          <p:sp>
            <p:nvSpPr>
              <p:cNvPr id="3" name="Овал 2">
                <a:extLst>
                  <a:ext uri="{FF2B5EF4-FFF2-40B4-BE49-F238E27FC236}">
                    <a16:creationId xmlns:a16="http://schemas.microsoft.com/office/drawing/2014/main" id="{F2A6320D-320D-4D5D-979E-CAC65D40D8ED}"/>
                  </a:ext>
                </a:extLst>
              </p:cNvPr>
              <p:cNvSpPr/>
              <p:nvPr/>
            </p:nvSpPr>
            <p:spPr>
              <a:xfrm>
                <a:off x="4547870" y="1889820"/>
                <a:ext cx="3096260" cy="309626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" name="Овал 1">
                <a:extLst>
                  <a:ext uri="{FF2B5EF4-FFF2-40B4-BE49-F238E27FC236}">
                    <a16:creationId xmlns:a16="http://schemas.microsoft.com/office/drawing/2014/main" id="{6A335FF2-F557-48DA-B6DE-F20ABE336EAC}"/>
                  </a:ext>
                </a:extLst>
              </p:cNvPr>
              <p:cNvSpPr/>
              <p:nvPr/>
            </p:nvSpPr>
            <p:spPr>
              <a:xfrm>
                <a:off x="4715493" y="2057444"/>
                <a:ext cx="2761013" cy="2761013"/>
              </a:xfrm>
              <a:prstGeom prst="ellipse">
                <a:avLst/>
              </a:prstGeom>
              <a:solidFill>
                <a:srgbClr val="6D96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A32A10E4-3A33-4564-AE1B-42653E4BA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0164" y="2142350"/>
              <a:ext cx="1123548" cy="112354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7E781C-8FCE-4BB5-AA4F-1DA17A026FDC}"/>
                </a:ext>
              </a:extLst>
            </p:cNvPr>
            <p:cNvSpPr txBox="1"/>
            <p:nvPr/>
          </p:nvSpPr>
          <p:spPr>
            <a:xfrm>
              <a:off x="5309054" y="3487064"/>
              <a:ext cx="157389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2400" dirty="0">
                  <a:latin typeface="Arial" panose="020B0604020202020204" pitchFamily="34" charset="0"/>
                  <a:cs typeface="Arial" panose="020B0604020202020204" pitchFamily="34" charset="0"/>
                </a:rPr>
                <a:t>Создание</a:t>
              </a:r>
            </a:p>
            <a:p>
              <a:pPr algn="ctr"/>
              <a:r>
                <a:rPr lang="ru-RU" sz="2400" dirty="0">
                  <a:latin typeface="Arial" panose="020B0604020202020204" pitchFamily="34" charset="0"/>
                  <a:cs typeface="Arial" panose="020B0604020202020204" pitchFamily="34" charset="0"/>
                </a:rPr>
                <a:t>проекта</a:t>
              </a:r>
            </a:p>
          </p:txBody>
        </p:sp>
      </p:grp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9AFA4107-AE74-419B-8E0B-F77B1B8D4A79}"/>
              </a:ext>
            </a:extLst>
          </p:cNvPr>
          <p:cNvCxnSpPr>
            <a:cxnSpLocks/>
          </p:cNvCxnSpPr>
          <p:nvPr/>
        </p:nvCxnSpPr>
        <p:spPr>
          <a:xfrm flipH="1" flipV="1">
            <a:off x="3597898" y="1718263"/>
            <a:ext cx="716432" cy="1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022F8A65-E22D-4B4E-9A2F-FD2D88C3BAB2}"/>
              </a:ext>
            </a:extLst>
          </p:cNvPr>
          <p:cNvCxnSpPr>
            <a:cxnSpLocks/>
          </p:cNvCxnSpPr>
          <p:nvPr/>
        </p:nvCxnSpPr>
        <p:spPr>
          <a:xfrm flipV="1">
            <a:off x="3425015" y="2772614"/>
            <a:ext cx="540990" cy="974996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AB56EAB8-B1AA-4F81-9914-24C1514E72C9}"/>
              </a:ext>
            </a:extLst>
          </p:cNvPr>
          <p:cNvCxnSpPr>
            <a:cxnSpLocks/>
          </p:cNvCxnSpPr>
          <p:nvPr/>
        </p:nvCxnSpPr>
        <p:spPr>
          <a:xfrm>
            <a:off x="8008973" y="3096464"/>
            <a:ext cx="515903" cy="842124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9FB4CAB0-C4CF-4E6D-9FAA-C652167A2D07}"/>
              </a:ext>
            </a:extLst>
          </p:cNvPr>
          <p:cNvCxnSpPr>
            <a:cxnSpLocks/>
          </p:cNvCxnSpPr>
          <p:nvPr/>
        </p:nvCxnSpPr>
        <p:spPr>
          <a:xfrm>
            <a:off x="7921219" y="1619058"/>
            <a:ext cx="561419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27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BB2364-3366-447E-9AC4-F64A26A67AF6}"/>
              </a:ext>
            </a:extLst>
          </p:cNvPr>
          <p:cNvSpPr txBox="1"/>
          <p:nvPr/>
        </p:nvSpPr>
        <p:spPr>
          <a:xfrm>
            <a:off x="314695" y="130629"/>
            <a:ext cx="3081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rgbClr val="0F1115"/>
                </a:solidFill>
                <a:latin typeface="Arial Black" panose="020B0A04020102020204" pitchFamily="34" charset="0"/>
              </a:rPr>
              <a:t>О проекте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9BB6C-B55B-4189-AD60-DCCA5DD5846A}"/>
              </a:ext>
            </a:extLst>
          </p:cNvPr>
          <p:cNvSpPr txBox="1"/>
          <p:nvPr/>
        </p:nvSpPr>
        <p:spPr>
          <a:xfrm>
            <a:off x="314695" y="838515"/>
            <a:ext cx="33924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Ожидаемый результат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9E753-AFFD-40E5-8C9C-01C977B78AB9}"/>
              </a:ext>
            </a:extLst>
          </p:cNvPr>
          <p:cNvSpPr txBox="1"/>
          <p:nvPr/>
        </p:nvSpPr>
        <p:spPr>
          <a:xfrm>
            <a:off x="1450881" y="1412569"/>
            <a:ext cx="4197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Пользователь осознаёт, куда уходят деньги в реальном времени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FE339-816F-40C9-85D5-705DBF78F990}"/>
              </a:ext>
            </a:extLst>
          </p:cNvPr>
          <p:cNvSpPr txBox="1"/>
          <p:nvPr/>
        </p:nvSpPr>
        <p:spPr>
          <a:xfrm>
            <a:off x="1450881" y="3108479"/>
            <a:ext cx="4683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Выявление паттернов → осознанное изменение привычек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5195F5-2A9F-4E00-8BF6-574EB295C0EA}"/>
              </a:ext>
            </a:extLst>
          </p:cNvPr>
          <p:cNvSpPr txBox="1"/>
          <p:nvPr/>
        </p:nvSpPr>
        <p:spPr>
          <a:xfrm>
            <a:off x="1450881" y="4760701"/>
            <a:ext cx="5209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Люди начинают вести бюджет без страха перед сложными таблицами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C9B264B8-6F1B-42FD-A81D-203D9268C6F6}"/>
              </a:ext>
            </a:extLst>
          </p:cNvPr>
          <p:cNvSpPr/>
          <p:nvPr/>
        </p:nvSpPr>
        <p:spPr>
          <a:xfrm>
            <a:off x="421575" y="1544213"/>
            <a:ext cx="927706" cy="927706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00DD9F-5A9C-42BE-B86C-0A851C58A5F1}"/>
              </a:ext>
            </a:extLst>
          </p:cNvPr>
          <p:cNvSpPr txBox="1"/>
          <p:nvPr/>
        </p:nvSpPr>
        <p:spPr>
          <a:xfrm>
            <a:off x="632498" y="1655201"/>
            <a:ext cx="607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ru-RU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B3878AC3-E92B-4B74-B444-D1BFE5A0FAE7}"/>
              </a:ext>
            </a:extLst>
          </p:cNvPr>
          <p:cNvSpPr/>
          <p:nvPr/>
        </p:nvSpPr>
        <p:spPr>
          <a:xfrm>
            <a:off x="421575" y="3220613"/>
            <a:ext cx="927706" cy="927706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0BA8EE-E8FD-4E87-A7F4-615B0D1E3286}"/>
              </a:ext>
            </a:extLst>
          </p:cNvPr>
          <p:cNvSpPr txBox="1"/>
          <p:nvPr/>
        </p:nvSpPr>
        <p:spPr>
          <a:xfrm>
            <a:off x="632498" y="3331601"/>
            <a:ext cx="607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ru-RU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5D4B3FB1-A633-455E-A37B-9375FA01CC6D}"/>
              </a:ext>
            </a:extLst>
          </p:cNvPr>
          <p:cNvSpPr/>
          <p:nvPr/>
        </p:nvSpPr>
        <p:spPr>
          <a:xfrm>
            <a:off x="421575" y="4897013"/>
            <a:ext cx="927706" cy="927706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9ABD18-CD14-4983-A7E3-650CDC44E70F}"/>
              </a:ext>
            </a:extLst>
          </p:cNvPr>
          <p:cNvSpPr txBox="1"/>
          <p:nvPr/>
        </p:nvSpPr>
        <p:spPr>
          <a:xfrm>
            <a:off x="632498" y="5008001"/>
            <a:ext cx="607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ru-RU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2F4AD8DA-2442-4F15-AF5F-62C5B93BF14B}"/>
              </a:ext>
            </a:extLst>
          </p:cNvPr>
          <p:cNvSpPr/>
          <p:nvPr/>
        </p:nvSpPr>
        <p:spPr>
          <a:xfrm>
            <a:off x="6301675" y="1544213"/>
            <a:ext cx="927706" cy="927706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0699D3-8FAC-4D49-92F2-E2A55C01E36E}"/>
              </a:ext>
            </a:extLst>
          </p:cNvPr>
          <p:cNvSpPr txBox="1"/>
          <p:nvPr/>
        </p:nvSpPr>
        <p:spPr>
          <a:xfrm>
            <a:off x="6512598" y="1655201"/>
            <a:ext cx="607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ru-RU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1A605C-886C-4B01-B4F9-45F3F28B4944}"/>
              </a:ext>
            </a:extLst>
          </p:cNvPr>
          <p:cNvSpPr txBox="1"/>
          <p:nvPr/>
        </p:nvSpPr>
        <p:spPr>
          <a:xfrm>
            <a:off x="7361574" y="1415617"/>
            <a:ext cx="4197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Ощущение управления жизнью, меньше стресса и конфликтов в семье</a:t>
            </a:r>
          </a:p>
        </p:txBody>
      </p:sp>
    </p:spTree>
    <p:extLst>
      <p:ext uri="{BB962C8B-B14F-4D97-AF65-F5344CB8AC3E}">
        <p14:creationId xmlns:p14="http://schemas.microsoft.com/office/powerpoint/2010/main" val="1254781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030A0"/>
            </a:gs>
            <a:gs pos="100000">
              <a:schemeClr val="accent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544B2A-1172-461D-9E7F-8746BCFD4823}"/>
              </a:ext>
            </a:extLst>
          </p:cNvPr>
          <p:cNvSpPr txBox="1"/>
          <p:nvPr/>
        </p:nvSpPr>
        <p:spPr>
          <a:xfrm>
            <a:off x="1803400" y="2552700"/>
            <a:ext cx="87260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652221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434</Words>
  <Application>Microsoft Office PowerPoint</Application>
  <PresentationFormat>Широкоэкранный</PresentationFormat>
  <Paragraphs>102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PC</dc:creator>
  <cp:lastModifiedBy>PC</cp:lastModifiedBy>
  <cp:revision>33</cp:revision>
  <dcterms:created xsi:type="dcterms:W3CDTF">2026-03-21T12:35:48Z</dcterms:created>
  <dcterms:modified xsi:type="dcterms:W3CDTF">2026-04-17T16:02:56Z</dcterms:modified>
</cp:coreProperties>
</file>